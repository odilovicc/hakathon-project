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[0:00–0:20] Мы — команда liderlar. Кубышка — трекер личных финансов с питомцем, который растёт вместе с накоплениями. Мы хотим сделать заботу о деньгах ежедневной привычкой: человек видит результат сегодня, даже если до большой цели ещё несколько месяцев. Покажем работающий прототип.</a:t>
            </a:r>
            <a:endParaRPr lang="ru-RU" sz="1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[0:20–0:45] Начинаем с людей, которые получают первый стабильный доход и хотят накопить на подушку или конкретную мечту. Их задача — не просто увидеть расходы, а регулярно возвращаться к своим деньгам. Покупка радует сразу, а результат накопления заметен гораздо позже. Наша гипотеза: эмоциональная обратная связь поможет сократить этот разрыв.</a:t>
            </a:r>
            <a:endParaRPr lang="ru-RU" sz="1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[0:45–1:15] Это реальный экран прототипа с тестовыми данными. Пользователь видит, сколько может потратить сегодня с учётом дохода, цели и уже записанных расходов. Короткий отчёт за день кормит питомца и меняет его настроение. Расходы также можно увидеть в часах своей работы. Так абстрактные суммы получают личный смысл. Сейчас деньги учитываются вручную: приложение не хранит и не переводит средства.</a:t>
            </a:r>
            <a:endParaRPr lang="ru-RU" sz="14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[1:15–1:40] Главная механика — связь внешнего вида питомца с прогрессом цели. На пятнадцати процентах появляется шарф, дальше открываются другие костюмы, а завершение цели запускает эволюцию. Если снять накопления и опуститься ниже порога, костюм отправится в сундук до восстановления прогресса. Ежедневная забота и накопления работают вместе, а пропуск дня не обнуляет всю историю заботы.</a:t>
            </a:r>
            <a:endParaRPr lang="ru-RU" sz="14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[1:40–2:05] Модель монетизации пока гипотеза: базовый учёт, цель и питомец остаются бесплатными. За подписку можно предложить расширенную аналитику, сценарии накопления и дополнительное оформление, не продавая прогресс цели. Первых пользователей планируем привлекать через студенческие сообщества и авторов о личных финансах. Цену и готовность платить нужно проверить; подтверждённой выручки пока нет.</a:t>
            </a:r>
            <a:endParaRPr lang="ru-RU" sz="14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[2:05–2:30] У нас уже работает основной цикл: регистрация, знакомство с питомцем, операции, бюджет на день, ежедневный отчёт и цель с костюмами, сундуком и прогнозом. Серверная логика проверена пятьюдесятью шестью тестами. Следом по техническому заданию идут музей несделанных покупок, подписки и сравнение корзины по магазинам. Эти функции ещё в планах, и мы не выдаём их за готовые.</a:t>
            </a:r>
            <a:endParaRPr lang="ru-RU" sz="14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[2:30–3:00] Следующий шаг — пилот на сто пользователей в течение четырёх недель. Измерим возврат на седьмой и двадцать восьмой день, регулярность взносов и готовность платить. Эти данные помогут решить, что развивать и стоит ли масштабировать привлечение. Сейчас ищем партнёра, который поможет с доступом к аудитории и экспертизой в росте. Кубышка: деньги, которые ты не потратил, кого-то кормят. Спасибо.</a:t>
            </a:r>
            <a:endParaRPr lang="ru-RU" sz="140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8" Type="http://schemas.openxmlformats.org/officeDocument/2006/relationships/image" Target="../media/stage4-today-dark-final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ПИТЧ ДЛЯ ИНВЕСТОРОВ · 3 МИНУТЫ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01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5" name="Element 5"/>
          <p:cNvSpPr txBox="1"/>
          <p:nvPr/>
        </p:nvSpPr>
        <p:spPr>
          <a:xfrm>
            <a:off x="502920" y="1078992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5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Кубышка</a:t>
            </a:r>
            <a:endParaRPr lang="ru-RU" sz="5200"/>
          </a:p>
        </p:txBody>
      </p:sp>
      <p:sp>
        <p:nvSpPr>
          <p:cNvPr id="6" name="Element 6"/>
          <p:cNvSpPr txBox="1"/>
          <p:nvPr/>
        </p:nvSpPr>
        <p:spPr>
          <a:xfrm>
            <a:off x="548640" y="2139696"/>
            <a:ext cx="66751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Копишь на свою мечту.</a:t>
            </a:r>
            <a:endParaRPr lang="ru-RU" sz="3200"/>
          </a:p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Растишь своего питомца.</a:t>
            </a:r>
            <a:endParaRPr lang="ru-RU" sz="3200"/>
          </a:p>
        </p:txBody>
      </p:sp>
      <p:sp>
        <p:nvSpPr>
          <p:cNvPr id="7" name="Element 7"/>
          <p:cNvSpPr txBox="1"/>
          <p:nvPr/>
        </p:nvSpPr>
        <p:spPr>
          <a:xfrm>
            <a:off x="548640" y="3694176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Трекер личных финансов, который превращает накопления в ежедневную привычку.</a:t>
            </a:r>
            <a:endParaRPr lang="ru-RU" sz="2100"/>
          </a:p>
        </p:txBody>
      </p:sp>
      <p:sp>
        <p:nvSpPr>
          <p:cNvPr id="8" name="Element 8"/>
          <p:cNvSpPr txBox="0"/>
          <p:nvPr/>
        </p:nvSpPr>
        <p:spPr>
          <a:xfrm>
            <a:off x="548640" y="4855464"/>
            <a:ext cx="4069080" cy="457200"/>
          </a:xfrm>
          <a:prstGeom prst="roundRect">
            <a:avLst/>
          </a:prstGeom>
          <a:solidFill>
            <a:srgbClr val="E2683A"/>
          </a:solidFill>
          <a:ln>
            <a:noFill/>
          </a:ln>
        </p:spPr>
      </p:sp>
      <p:sp>
        <p:nvSpPr>
          <p:cNvPr id="9" name="Element 9"/>
          <p:cNvSpPr txBox="1"/>
          <p:nvPr/>
        </p:nvSpPr>
        <p:spPr>
          <a:xfrm>
            <a:off x="731520" y="4956048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3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РАБОТАЮЩИЙ ПРОТОТИП</a:t>
            </a:r>
            <a:endParaRPr lang="ru-RU" sz="1300"/>
          </a:p>
        </p:txBody>
      </p:sp>
      <p:sp>
        <p:nvSpPr>
          <p:cNvPr id="10" name="Element 10"/>
          <p:cNvSpPr txBox="0"/>
          <p:nvPr/>
        </p:nvSpPr>
        <p:spPr>
          <a:xfrm>
            <a:off x="8138709" y="4235501"/>
            <a:ext cx="2859329" cy="269748"/>
          </a:xfrm>
          <a:prstGeom prst="ellipse">
            <a:avLst/>
          </a:prstGeom>
          <a:solidFill>
            <a:srgbClr val="DCCFC3"/>
          </a:solidFill>
          <a:ln>
            <a:noFill/>
          </a:ln>
        </p:spPr>
      </p:sp>
      <p:sp>
        <p:nvSpPr>
          <p:cNvPr id="11" name="Element 11"/>
          <p:cNvSpPr txBox="0"/>
          <p:nvPr/>
        </p:nvSpPr>
        <p:spPr>
          <a:xfrm>
            <a:off x="8278978" y="2293315"/>
            <a:ext cx="2589581" cy="2157984"/>
          </a:xfrm>
          <a:prstGeom prst="ellipse">
            <a:avLst/>
          </a:prstGeom>
          <a:solidFill>
            <a:srgbClr val="D9B4BE"/>
          </a:solidFill>
          <a:ln>
            <a:noFill/>
          </a:ln>
        </p:spPr>
      </p:sp>
      <p:sp>
        <p:nvSpPr>
          <p:cNvPr id="12" name="Element 12"/>
          <p:cNvSpPr txBox="0"/>
          <p:nvPr/>
        </p:nvSpPr>
        <p:spPr>
          <a:xfrm>
            <a:off x="9012692" y="2142256"/>
            <a:ext cx="1132942" cy="323698"/>
          </a:xfrm>
          <a:prstGeom prst="ellipse">
            <a:avLst/>
          </a:prstGeom>
          <a:solidFill>
            <a:srgbClr val="B97866"/>
          </a:solidFill>
          <a:ln>
            <a:noFill/>
          </a:ln>
        </p:spPr>
      </p:sp>
      <p:sp>
        <p:nvSpPr>
          <p:cNvPr id="13" name="Element 13"/>
          <p:cNvSpPr txBox="0"/>
          <p:nvPr/>
        </p:nvSpPr>
        <p:spPr>
          <a:xfrm>
            <a:off x="9422709" y="1937248"/>
            <a:ext cx="280538" cy="431597"/>
          </a:xfrm>
          <a:prstGeom prst="ellipse">
            <a:avLst/>
          </a:prstGeom>
          <a:solidFill>
            <a:srgbClr val="B97866"/>
          </a:solidFill>
          <a:ln>
            <a:noFill/>
          </a:ln>
        </p:spPr>
      </p:sp>
      <p:sp>
        <p:nvSpPr>
          <p:cNvPr id="14" name="Element 14"/>
          <p:cNvSpPr txBox="0"/>
          <p:nvPr/>
        </p:nvSpPr>
        <p:spPr>
          <a:xfrm>
            <a:off x="9055852" y="3070189"/>
            <a:ext cx="420807" cy="474756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5" name="Element 15"/>
          <p:cNvSpPr txBox="0"/>
          <p:nvPr/>
        </p:nvSpPr>
        <p:spPr>
          <a:xfrm>
            <a:off x="9174541" y="3102559"/>
            <a:ext cx="140269" cy="140269"/>
          </a:xfrm>
          <a:prstGeom prst="ellipse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6" name="Element 16"/>
          <p:cNvSpPr txBox="0"/>
          <p:nvPr/>
        </p:nvSpPr>
        <p:spPr>
          <a:xfrm>
            <a:off x="9940625" y="3070189"/>
            <a:ext cx="420807" cy="474756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7" name="Element 17"/>
          <p:cNvSpPr txBox="0"/>
          <p:nvPr/>
        </p:nvSpPr>
        <p:spPr>
          <a:xfrm>
            <a:off x="10059314" y="3102559"/>
            <a:ext cx="140269" cy="140269"/>
          </a:xfrm>
          <a:prstGeom prst="ellipse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8" name="Element 18"/>
          <p:cNvSpPr txBox="0"/>
          <p:nvPr/>
        </p:nvSpPr>
        <p:spPr>
          <a:xfrm>
            <a:off x="8721364" y="3577316"/>
            <a:ext cx="323698" cy="140269"/>
          </a:xfrm>
          <a:prstGeom prst="ellipse">
            <a:avLst/>
          </a:prstGeom>
          <a:solidFill>
            <a:srgbClr val="D98D9C"/>
          </a:solidFill>
          <a:ln>
            <a:noFill/>
          </a:ln>
        </p:spPr>
      </p:sp>
      <p:sp>
        <p:nvSpPr>
          <p:cNvPr id="19" name="Element 19"/>
          <p:cNvSpPr txBox="0"/>
          <p:nvPr/>
        </p:nvSpPr>
        <p:spPr>
          <a:xfrm>
            <a:off x="10339852" y="3577316"/>
            <a:ext cx="323698" cy="140269"/>
          </a:xfrm>
          <a:prstGeom prst="ellipse">
            <a:avLst/>
          </a:prstGeom>
          <a:solidFill>
            <a:srgbClr val="D98D9C"/>
          </a:solidFill>
          <a:ln>
            <a:noFill/>
          </a:ln>
        </p:spPr>
      </p:sp>
      <p:sp>
        <p:nvSpPr>
          <p:cNvPr id="20" name="Element 20"/>
          <p:cNvSpPr txBox="0"/>
          <p:nvPr/>
        </p:nvSpPr>
        <p:spPr>
          <a:xfrm>
            <a:off x="9530608" y="3739164"/>
            <a:ext cx="323698" cy="140269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21" name="Element 21"/>
          <p:cNvSpPr txBox="1"/>
          <p:nvPr/>
        </p:nvSpPr>
        <p:spPr>
          <a:xfrm>
            <a:off x="548640" y="5660136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Команда liderlar</a:t>
            </a:r>
            <a:endParaRPr lang="ru-RU" sz="1400"/>
          </a:p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Ёрмухаммедов Аброр · Жураева Робия</a:t>
            </a:r>
            <a:endParaRPr lang="ru-RU" sz="1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01 · ПРОБЛЕМА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02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До мечты — месяцы.</a:t>
            </a:r>
            <a:endParaRPr lang="ru-RU" sz="3200"/>
          </a:p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От покупки — радость сейчас.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6" name="Element 6"/>
          <p:cNvSpPr txBox="1"/>
          <p:nvPr/>
        </p:nvSpPr>
        <p:spPr>
          <a:xfrm>
            <a:off x="548640" y="21762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2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Для кого начинаем</a:t>
            </a:r>
            <a:endParaRPr lang="ru-RU" sz="2200"/>
          </a:p>
        </p:txBody>
      </p:sp>
      <p:sp>
        <p:nvSpPr>
          <p:cNvPr id="7" name="Element 7"/>
          <p:cNvSpPr txBox="1"/>
          <p:nvPr/>
        </p:nvSpPr>
        <p:spPr>
          <a:xfrm>
            <a:off x="548640" y="2761488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Молодые люди с первым стабильным доходом, которые хотят собрать финансовую подушку или накопить на цель.</a:t>
            </a:r>
            <a:endParaRPr lang="ru-RU" sz="2200"/>
          </a:p>
        </p:txBody>
      </p:sp>
      <p:sp>
        <p:nvSpPr>
          <p:cNvPr id="8" name="Element 8"/>
          <p:cNvSpPr txBox="1"/>
          <p:nvPr/>
        </p:nvSpPr>
        <p:spPr>
          <a:xfrm>
            <a:off x="4681728" y="226771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4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01</a:t>
            </a:r>
            <a:endParaRPr lang="ru-RU" sz="2400"/>
          </a:p>
        </p:txBody>
      </p:sp>
      <p:sp>
        <p:nvSpPr>
          <p:cNvPr id="9" name="Element 9"/>
          <p:cNvSpPr txBox="1"/>
          <p:nvPr/>
        </p:nvSpPr>
        <p:spPr>
          <a:xfrm>
            <a:off x="5486400" y="226771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Учёт требует усилий</a:t>
            </a:r>
            <a:endParaRPr lang="ru-RU" sz="2300"/>
          </a:p>
        </p:txBody>
      </p:sp>
      <p:sp>
        <p:nvSpPr>
          <p:cNvPr id="10" name="Element 10"/>
          <p:cNvSpPr txBox="1"/>
          <p:nvPr/>
        </p:nvSpPr>
        <p:spPr>
          <a:xfrm>
            <a:off x="5486400" y="2770632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Внести расход легко отложить.</a:t>
            </a:r>
            <a:endParaRPr lang="ru-RU" sz="1900"/>
          </a:p>
        </p:txBody>
      </p:sp>
      <p:sp>
        <p:nvSpPr>
          <p:cNvPr id="11" name="Element 11"/>
          <p:cNvSpPr txBox="1"/>
          <p:nvPr/>
        </p:nvSpPr>
        <p:spPr>
          <a:xfrm>
            <a:off x="4681728" y="352044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4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02</a:t>
            </a:r>
            <a:endParaRPr lang="ru-RU" sz="2400"/>
          </a:p>
        </p:txBody>
      </p:sp>
      <p:sp>
        <p:nvSpPr>
          <p:cNvPr id="12" name="Element 12"/>
          <p:cNvSpPr txBox="1"/>
          <p:nvPr/>
        </p:nvSpPr>
        <p:spPr>
          <a:xfrm>
            <a:off x="5486400" y="352044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Прогресс ощущается поздно</a:t>
            </a:r>
            <a:endParaRPr lang="ru-RU" sz="2300"/>
          </a:p>
        </p:txBody>
      </p:sp>
      <p:sp>
        <p:nvSpPr>
          <p:cNvPr id="13" name="Element 13"/>
          <p:cNvSpPr txBox="1"/>
          <p:nvPr/>
        </p:nvSpPr>
        <p:spPr>
          <a:xfrm>
            <a:off x="5486400" y="4023360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Небольшой взнос теряется на фоне большой цели.</a:t>
            </a:r>
            <a:endParaRPr lang="ru-RU" sz="1900"/>
          </a:p>
        </p:txBody>
      </p:sp>
      <p:sp>
        <p:nvSpPr>
          <p:cNvPr id="14" name="Element 14"/>
          <p:cNvSpPr txBox="1"/>
          <p:nvPr/>
        </p:nvSpPr>
        <p:spPr>
          <a:xfrm>
            <a:off x="4681728" y="4773168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4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03</a:t>
            </a:r>
            <a:endParaRPr lang="ru-RU" sz="2400"/>
          </a:p>
        </p:txBody>
      </p:sp>
      <p:sp>
        <p:nvSpPr>
          <p:cNvPr id="15" name="Element 15"/>
          <p:cNvSpPr txBox="1"/>
          <p:nvPr/>
        </p:nvSpPr>
        <p:spPr>
          <a:xfrm>
            <a:off x="5486400" y="477316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Не хватает повода вернуться</a:t>
            </a:r>
            <a:endParaRPr lang="ru-RU" sz="2300"/>
          </a:p>
        </p:txBody>
      </p:sp>
      <p:sp>
        <p:nvSpPr>
          <p:cNvPr id="16" name="Element 16"/>
          <p:cNvSpPr txBox="1"/>
          <p:nvPr/>
        </p:nvSpPr>
        <p:spPr>
          <a:xfrm>
            <a:off x="5486400" y="5276088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Цифры показывают итог, но не дают ежедневной награды.</a:t>
            </a:r>
            <a:endParaRPr lang="ru-RU" sz="1900"/>
          </a:p>
        </p:txBody>
      </p:sp>
      <p:sp>
        <p:nvSpPr>
          <p:cNvPr id="17" name="Element 17"/>
          <p:cNvSpPr txBox="1"/>
          <p:nvPr/>
        </p:nvSpPr>
        <p:spPr>
          <a:xfrm>
            <a:off x="548640" y="59893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2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Стартовый сегмент и проблема — гипотезы для проверки в интервью и пилоте.</a:t>
            </a:r>
            <a:endParaRPr lang="ru-RU" sz="12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02 · ПРОДУКТ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03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Понятный ориентир на день.</a:t>
            </a:r>
            <a:endParaRPr lang="ru-RU" sz="3200"/>
          </a:p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Живой повод вернуться.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pic>
        <p:nvPicPr>
          <p:cNvPr id="6" name="Element 6"/>
          <p:cNvPicPr>
            <a:picLocks noChangeAspect="1"/>
          </p:cNvPicPr>
          <p:nvPr/>
        </p:nvPicPr>
        <p:blipFill>
          <a:blip r:embed="rId8"/>
          <a:srcRect l="18600" t="18710" r="1550" b="41660"/>
          <a:stretch>
            <a:fillRect/>
          </a:stretch>
        </p:blipFill>
        <p:spPr>
          <a:xfrm>
            <a:off x="548640" y="2267712"/>
            <a:ext cx="7726680" cy="3465576"/>
          </a:xfrm>
          <a:prstGeom prst="rect">
            <a:avLst/>
          </a:prstGeom>
        </p:spPr>
      </p:pic>
      <p:sp>
        <p:nvSpPr>
          <p:cNvPr id="7" name="Element 7"/>
          <p:cNvSpPr txBox="1"/>
          <p:nvPr/>
        </p:nvSpPr>
        <p:spPr>
          <a:xfrm>
            <a:off x="8641080" y="23317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Бюджет на сегодня</a:t>
            </a:r>
            <a:endParaRPr lang="ru-RU" sz="2300"/>
          </a:p>
        </p:txBody>
      </p:sp>
      <p:sp>
        <p:nvSpPr>
          <p:cNvPr id="8" name="Element 8"/>
          <p:cNvSpPr txBox="1"/>
          <p:nvPr/>
        </p:nvSpPr>
        <p:spPr>
          <a:xfrm>
            <a:off x="8641080" y="2862072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Ориентир с учётом дохода, цели и расходов.</a:t>
            </a:r>
            <a:endParaRPr lang="ru-RU" sz="1900"/>
          </a:p>
        </p:txBody>
      </p:sp>
      <p:sp>
        <p:nvSpPr>
          <p:cNvPr id="9" name="Element 9"/>
          <p:cNvSpPr txBox="1"/>
          <p:nvPr/>
        </p:nvSpPr>
        <p:spPr>
          <a:xfrm>
            <a:off x="8641080" y="405079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Отчёт за 10 секунд</a:t>
            </a:r>
            <a:endParaRPr lang="ru-RU" sz="2300"/>
          </a:p>
        </p:txBody>
      </p:sp>
      <p:sp>
        <p:nvSpPr>
          <p:cNvPr id="10" name="Element 10"/>
          <p:cNvSpPr txBox="1"/>
          <p:nvPr/>
        </p:nvSpPr>
        <p:spPr>
          <a:xfrm>
            <a:off x="8641080" y="4599432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Ежедневный отчёт кормит питомца и меняет его настроение.</a:t>
            </a:r>
            <a:endParaRPr lang="ru-RU" sz="1900"/>
          </a:p>
        </p:txBody>
      </p:sp>
      <p:sp>
        <p:nvSpPr>
          <p:cNvPr id="11" name="Element 11"/>
          <p:cNvSpPr txBox="1"/>
          <p:nvPr/>
        </p:nvSpPr>
        <p:spPr>
          <a:xfrm>
            <a:off x="548640" y="598932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2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Реальный экран прототипа · тестовые данные · ручной учёт, без перевода денег</a:t>
            </a:r>
            <a:endParaRPr lang="ru-RU" sz="12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03 · ОТЛИЧИЕ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04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Накопления становятся видимыми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6" name="Element 6"/>
          <p:cNvSpPr txBox="0"/>
          <p:nvPr/>
        </p:nvSpPr>
        <p:spPr>
          <a:xfrm>
            <a:off x="803300" y="4178808"/>
            <a:ext cx="2544318" cy="240030"/>
          </a:xfrm>
          <a:prstGeom prst="ellipse">
            <a:avLst/>
          </a:prstGeom>
          <a:solidFill>
            <a:srgbClr val="DCCFC3"/>
          </a:solidFill>
          <a:ln>
            <a:noFill/>
          </a:ln>
        </p:spPr>
      </p:sp>
      <p:sp>
        <p:nvSpPr>
          <p:cNvPr id="7" name="Element 7"/>
          <p:cNvSpPr txBox="0"/>
          <p:nvPr/>
        </p:nvSpPr>
        <p:spPr>
          <a:xfrm>
            <a:off x="928116" y="2450592"/>
            <a:ext cx="2304288" cy="1920240"/>
          </a:xfrm>
          <a:prstGeom prst="ellipse">
            <a:avLst/>
          </a:prstGeom>
          <a:solidFill>
            <a:srgbClr val="D9B4BE"/>
          </a:solidFill>
          <a:ln>
            <a:noFill/>
          </a:ln>
        </p:spPr>
      </p:sp>
      <p:sp>
        <p:nvSpPr>
          <p:cNvPr id="8" name="Element 8"/>
          <p:cNvSpPr txBox="0"/>
          <p:nvPr/>
        </p:nvSpPr>
        <p:spPr>
          <a:xfrm>
            <a:off x="1580998" y="2316175"/>
            <a:ext cx="1008126" cy="288036"/>
          </a:xfrm>
          <a:prstGeom prst="ellipse">
            <a:avLst/>
          </a:prstGeom>
          <a:solidFill>
            <a:srgbClr val="B97866"/>
          </a:solidFill>
          <a:ln>
            <a:noFill/>
          </a:ln>
        </p:spPr>
      </p:sp>
      <p:sp>
        <p:nvSpPr>
          <p:cNvPr id="9" name="Element 9"/>
          <p:cNvSpPr txBox="0"/>
          <p:nvPr/>
        </p:nvSpPr>
        <p:spPr>
          <a:xfrm>
            <a:off x="1945843" y="2133752"/>
            <a:ext cx="249631" cy="384048"/>
          </a:xfrm>
          <a:prstGeom prst="ellipse">
            <a:avLst/>
          </a:prstGeom>
          <a:solidFill>
            <a:srgbClr val="B97866"/>
          </a:solidFill>
          <a:ln>
            <a:noFill/>
          </a:ln>
        </p:spPr>
      </p:sp>
      <p:sp>
        <p:nvSpPr>
          <p:cNvPr id="10" name="Element 10"/>
          <p:cNvSpPr txBox="0"/>
          <p:nvPr/>
        </p:nvSpPr>
        <p:spPr>
          <a:xfrm>
            <a:off x="1619402" y="3141878"/>
            <a:ext cx="374447" cy="422453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1" name="Element 11"/>
          <p:cNvSpPr txBox="0"/>
          <p:nvPr/>
        </p:nvSpPr>
        <p:spPr>
          <a:xfrm>
            <a:off x="1725016" y="3170682"/>
            <a:ext cx="124816" cy="124816"/>
          </a:xfrm>
          <a:prstGeom prst="ellipse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2" name="Element 12"/>
          <p:cNvSpPr txBox="0"/>
          <p:nvPr/>
        </p:nvSpPr>
        <p:spPr>
          <a:xfrm>
            <a:off x="2406701" y="3141878"/>
            <a:ext cx="374447" cy="422453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3" name="Element 13"/>
          <p:cNvSpPr txBox="0"/>
          <p:nvPr/>
        </p:nvSpPr>
        <p:spPr>
          <a:xfrm>
            <a:off x="2512314" y="3170682"/>
            <a:ext cx="124816" cy="124816"/>
          </a:xfrm>
          <a:prstGeom prst="ellipse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4" name="Element 14"/>
          <p:cNvSpPr txBox="0"/>
          <p:nvPr/>
        </p:nvSpPr>
        <p:spPr>
          <a:xfrm>
            <a:off x="1321765" y="3593135"/>
            <a:ext cx="288036" cy="124816"/>
          </a:xfrm>
          <a:prstGeom prst="ellipse">
            <a:avLst/>
          </a:prstGeom>
          <a:solidFill>
            <a:srgbClr val="D98D9C"/>
          </a:solidFill>
          <a:ln>
            <a:noFill/>
          </a:ln>
        </p:spPr>
      </p:sp>
      <p:sp>
        <p:nvSpPr>
          <p:cNvPr id="15" name="Element 15"/>
          <p:cNvSpPr txBox="0"/>
          <p:nvPr/>
        </p:nvSpPr>
        <p:spPr>
          <a:xfrm>
            <a:off x="2761945" y="3593135"/>
            <a:ext cx="288036" cy="124816"/>
          </a:xfrm>
          <a:prstGeom prst="ellipse">
            <a:avLst/>
          </a:prstGeom>
          <a:solidFill>
            <a:srgbClr val="D98D9C"/>
          </a:solidFill>
          <a:ln>
            <a:noFill/>
          </a:ln>
        </p:spPr>
      </p:sp>
      <p:sp>
        <p:nvSpPr>
          <p:cNvPr id="16" name="Element 16"/>
          <p:cNvSpPr txBox="0"/>
          <p:nvPr/>
        </p:nvSpPr>
        <p:spPr>
          <a:xfrm>
            <a:off x="2041855" y="3737153"/>
            <a:ext cx="288036" cy="124816"/>
          </a:xfrm>
          <a:prstGeom prst="ellipse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7" name="Element 17"/>
          <p:cNvSpPr txBox="0"/>
          <p:nvPr/>
        </p:nvSpPr>
        <p:spPr>
          <a:xfrm>
            <a:off x="4023360" y="2148840"/>
            <a:ext cx="7543800" cy="960120"/>
          </a:xfrm>
          <a:prstGeom prst="round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8" name="Element 18"/>
          <p:cNvSpPr txBox="1"/>
          <p:nvPr/>
        </p:nvSpPr>
        <p:spPr>
          <a:xfrm>
            <a:off x="4251960" y="2331720"/>
            <a:ext cx="704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5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Взнос в цель → новый образ питомца</a:t>
            </a:r>
            <a:endParaRPr lang="ru-RU" sz="2500"/>
          </a:p>
        </p:txBody>
      </p:sp>
      <p:sp>
        <p:nvSpPr>
          <p:cNvPr id="19" name="Element 19"/>
          <p:cNvSpPr txBox="1"/>
          <p:nvPr/>
        </p:nvSpPr>
        <p:spPr>
          <a:xfrm>
            <a:off x="4251960" y="352044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8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15%</a:t>
            </a:r>
            <a:endParaRPr lang="ru-RU" sz="2800"/>
          </a:p>
        </p:txBody>
      </p:sp>
      <p:sp>
        <p:nvSpPr>
          <p:cNvPr id="20" name="Element 20"/>
          <p:cNvSpPr txBox="1"/>
          <p:nvPr/>
        </p:nvSpPr>
        <p:spPr>
          <a:xfrm>
            <a:off x="4251960" y="4142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Шарф</a:t>
            </a:r>
            <a:endParaRPr lang="ru-RU" sz="1700"/>
          </a:p>
        </p:txBody>
      </p:sp>
      <p:sp>
        <p:nvSpPr>
          <p:cNvPr id="21" name="Element 21"/>
          <p:cNvSpPr txBox="1"/>
          <p:nvPr/>
        </p:nvSpPr>
        <p:spPr>
          <a:xfrm>
            <a:off x="6062472" y="352044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8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45%</a:t>
            </a:r>
            <a:endParaRPr lang="ru-RU" sz="2800"/>
          </a:p>
        </p:txBody>
      </p:sp>
      <p:sp>
        <p:nvSpPr>
          <p:cNvPr id="22" name="Element 22"/>
          <p:cNvSpPr txBox="1"/>
          <p:nvPr/>
        </p:nvSpPr>
        <p:spPr>
          <a:xfrm>
            <a:off x="6062472" y="4142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Очки</a:t>
            </a:r>
            <a:endParaRPr lang="ru-RU" sz="1700"/>
          </a:p>
        </p:txBody>
      </p:sp>
      <p:sp>
        <p:nvSpPr>
          <p:cNvPr id="23" name="Element 23"/>
          <p:cNvSpPr txBox="1"/>
          <p:nvPr/>
        </p:nvSpPr>
        <p:spPr>
          <a:xfrm>
            <a:off x="7872984" y="352044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8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90%</a:t>
            </a:r>
            <a:endParaRPr lang="ru-RU" sz="2800"/>
          </a:p>
        </p:txBody>
      </p:sp>
      <p:sp>
        <p:nvSpPr>
          <p:cNvPr id="24" name="Element 24"/>
          <p:cNvSpPr txBox="1"/>
          <p:nvPr/>
        </p:nvSpPr>
        <p:spPr>
          <a:xfrm>
            <a:off x="7872984" y="4142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Корона</a:t>
            </a:r>
            <a:endParaRPr lang="ru-RU" sz="1700"/>
          </a:p>
        </p:txBody>
      </p:sp>
      <p:sp>
        <p:nvSpPr>
          <p:cNvPr id="25" name="Element 25"/>
          <p:cNvSpPr txBox="1"/>
          <p:nvPr/>
        </p:nvSpPr>
        <p:spPr>
          <a:xfrm>
            <a:off x="9692640" y="352044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8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100%</a:t>
            </a:r>
            <a:endParaRPr lang="ru-RU" sz="2800"/>
          </a:p>
        </p:txBody>
      </p:sp>
      <p:sp>
        <p:nvSpPr>
          <p:cNvPr id="26" name="Element 26"/>
          <p:cNvSpPr txBox="1"/>
          <p:nvPr/>
        </p:nvSpPr>
        <p:spPr>
          <a:xfrm>
            <a:off x="9692640" y="41422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Эволюция</a:t>
            </a:r>
            <a:endParaRPr lang="ru-RU" sz="1700"/>
          </a:p>
        </p:txBody>
      </p:sp>
      <p:sp>
        <p:nvSpPr>
          <p:cNvPr id="27" name="Element 27"/>
          <p:cNvSpPr txBox="0"/>
          <p:nvPr/>
        </p:nvSpPr>
        <p:spPr>
          <a:xfrm>
            <a:off x="548640" y="5138928"/>
            <a:ext cx="11018520" cy="886968"/>
          </a:xfrm>
          <a:prstGeom prst="roundRect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28" name="Element 28"/>
          <p:cNvSpPr txBox="1"/>
          <p:nvPr/>
        </p:nvSpPr>
        <p:spPr>
          <a:xfrm>
            <a:off x="795528" y="53492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0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Снял накопления — костюм ждёт в сундуке. Вернул — снова доступен.</a:t>
            </a:r>
            <a:endParaRPr lang="ru-RU" sz="2000"/>
          </a:p>
        </p:txBody>
      </p:sp>
      <p:sp>
        <p:nvSpPr>
          <p:cNvPr id="29" name="Element 29"/>
          <p:cNvSpPr txBox="1"/>
          <p:nvPr/>
        </p:nvSpPr>
        <p:spPr>
          <a:xfrm>
            <a:off x="731520" y="462686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5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Одна цель. Один питомец.</a:t>
            </a:r>
            <a:endParaRPr lang="ru-RU" sz="15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04 · БИЗНЕС-МОДЕЛЬ · ГИПОТЕЗА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05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Бесплатная привычка → платная глубина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6" name="Element 6"/>
          <p:cNvSpPr txBox="0"/>
          <p:nvPr/>
        </p:nvSpPr>
        <p:spPr>
          <a:xfrm>
            <a:off x="548640" y="2103120"/>
            <a:ext cx="5349240" cy="3182112"/>
          </a:xfrm>
          <a:prstGeom prst="round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7" name="Element 7"/>
          <p:cNvSpPr txBox="1"/>
          <p:nvPr/>
        </p:nvSpPr>
        <p:spPr>
          <a:xfrm>
            <a:off x="804672" y="240487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8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Бесплатно</a:t>
            </a:r>
            <a:endParaRPr lang="ru-RU" sz="2800"/>
          </a:p>
        </p:txBody>
      </p:sp>
      <p:sp>
        <p:nvSpPr>
          <p:cNvPr id="8" name="Element 8"/>
          <p:cNvSpPr txBox="1"/>
          <p:nvPr/>
        </p:nvSpPr>
        <p:spPr>
          <a:xfrm>
            <a:off x="804672" y="3127248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3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Учёт доходов и расходов</a:t>
            </a:r>
            <a:endParaRPr lang="ru-RU" sz="2300"/>
          </a:p>
          <a:p>
            <a:pPr>
              <a:lnSpc>
                <a:spcPct val="115000"/>
              </a:lnSpc>
            </a:pPr>
            <a:r>
              <a:rPr lang="ru-RU" sz="23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Цель и базовый питомец</a:t>
            </a:r>
            <a:endParaRPr lang="ru-RU" sz="2300"/>
          </a:p>
          <a:p>
            <a:pPr>
              <a:lnSpc>
                <a:spcPct val="115000"/>
              </a:lnSpc>
            </a:pPr>
            <a:r>
              <a:rPr lang="ru-RU" sz="23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Ежедневный отчёт</a:t>
            </a:r>
            <a:endParaRPr lang="ru-RU" sz="2300"/>
          </a:p>
        </p:txBody>
      </p:sp>
      <p:sp>
        <p:nvSpPr>
          <p:cNvPr id="9" name="Element 9"/>
          <p:cNvSpPr txBox="0"/>
          <p:nvPr/>
        </p:nvSpPr>
        <p:spPr>
          <a:xfrm>
            <a:off x="6126480" y="2103120"/>
            <a:ext cx="5440680" cy="3182112"/>
          </a:xfrm>
          <a:prstGeom prst="roundRect">
            <a:avLst/>
          </a:prstGeom>
          <a:solidFill>
            <a:srgbClr val="2B1F2E"/>
          </a:solidFill>
          <a:ln>
            <a:noFill/>
          </a:ln>
        </p:spPr>
      </p:sp>
      <p:sp>
        <p:nvSpPr>
          <p:cNvPr id="10" name="Element 10"/>
          <p:cNvSpPr txBox="1"/>
          <p:nvPr/>
        </p:nvSpPr>
        <p:spPr>
          <a:xfrm>
            <a:off x="6400800" y="240487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6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Подписка — проверить</a:t>
            </a:r>
            <a:endParaRPr lang="ru-RU" sz="2600"/>
          </a:p>
        </p:txBody>
      </p:sp>
      <p:sp>
        <p:nvSpPr>
          <p:cNvPr id="11" name="Element 11"/>
          <p:cNvSpPr txBox="1"/>
          <p:nvPr/>
        </p:nvSpPr>
        <p:spPr>
          <a:xfrm>
            <a:off x="6400800" y="3127248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Расширенная аналитика</a:t>
            </a:r>
            <a:endParaRPr lang="ru-RU" sz="2200"/>
          </a:p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Персональные сценарии накопления</a:t>
            </a:r>
            <a:endParaRPr lang="ru-RU" sz="2200"/>
          </a:p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Дополнительное оформление</a:t>
            </a:r>
            <a:endParaRPr lang="ru-RU" sz="2200"/>
          </a:p>
        </p:txBody>
      </p:sp>
      <p:sp>
        <p:nvSpPr>
          <p:cNvPr id="12" name="Element 12"/>
          <p:cNvSpPr txBox="1"/>
          <p:nvPr/>
        </p:nvSpPr>
        <p:spPr>
          <a:xfrm>
            <a:off x="594360" y="559612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Первый канал: студенческие сообщества и авторы о личных финансах.</a:t>
            </a:r>
            <a:endParaRPr lang="ru-RU" sz="1700"/>
          </a:p>
          <a:p>
            <a:pPr>
              <a:lnSpc>
                <a:spcPct val="115000"/>
              </a:lnSpc>
            </a:pPr>
            <a:r>
              <a:rPr lang="ru-RU" sz="17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Цену, готовность платить и стоимость привлечения проверим на пилоте.</a:t>
            </a:r>
            <a:endParaRPr lang="ru-RU" sz="17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05 · ГОТОВНОСТЬ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06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Основной цикл уже работает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6" name="Element 6"/>
          <p:cNvSpPr txBox="1"/>
          <p:nvPr/>
        </p:nvSpPr>
        <p:spPr>
          <a:xfrm>
            <a:off x="548640" y="21488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500" b="1">
                <a:solidFill>
                  <a:srgbClr val="4F8A5B"/>
                </a:solidFill>
                <a:latin typeface="Arial"/>
                <a:ea typeface="Arial"/>
                <a:cs typeface="Arial"/>
              </a:rPr>
              <a:t>Можно показать сегодня</a:t>
            </a:r>
            <a:endParaRPr lang="ru-RU" sz="2500"/>
          </a:p>
        </p:txBody>
      </p:sp>
      <p:sp>
        <p:nvSpPr>
          <p:cNvPr id="7" name="Element 7"/>
          <p:cNvSpPr txBox="1"/>
          <p:nvPr/>
        </p:nvSpPr>
        <p:spPr>
          <a:xfrm>
            <a:off x="548640" y="2816352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Регистрация и знакомство с питомцем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Учёт операций и бюджет на день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Ежедневный отчёт и настроение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Цель, гардероб, сундук и прогноз</a:t>
            </a:r>
            <a:endParaRPr lang="ru-RU" sz="2100"/>
          </a:p>
        </p:txBody>
      </p:sp>
      <p:sp>
        <p:nvSpPr>
          <p:cNvPr id="8" name="Element 8"/>
          <p:cNvSpPr txBox="1"/>
          <p:nvPr/>
        </p:nvSpPr>
        <p:spPr>
          <a:xfrm>
            <a:off x="6428232" y="21488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5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Дальше по ТЗ</a:t>
            </a:r>
            <a:endParaRPr lang="ru-RU" sz="2500"/>
          </a:p>
        </p:txBody>
      </p:sp>
      <p:sp>
        <p:nvSpPr>
          <p:cNvPr id="9" name="Element 9"/>
          <p:cNvSpPr txBox="1"/>
          <p:nvPr/>
        </p:nvSpPr>
        <p:spPr>
          <a:xfrm>
            <a:off x="6428232" y="2816352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Музей несделанных покупок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Поиск неиспользуемых подписок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Сравнение корзины «Дешевле рядом»</a:t>
            </a:r>
            <a:endParaRPr lang="ru-RU" sz="2100"/>
          </a:p>
          <a:p>
            <a:pPr>
              <a:lnSpc>
                <a:spcPct val="115000"/>
              </a:lnSpc>
            </a:pPr>
            <a:r>
              <a:rPr lang="ru-RU" sz="2100" b="0">
                <a:solidFill>
                  <a:srgbClr val="2B1F2E"/>
                </a:solidFill>
                <a:latin typeface="Arial"/>
                <a:ea typeface="Arial"/>
                <a:cs typeface="Arial"/>
              </a:rPr>
              <a:t>Публичный лендинг</a:t>
            </a:r>
            <a:endParaRPr lang="ru-RU" sz="2100"/>
          </a:p>
        </p:txBody>
      </p:sp>
      <p:sp>
        <p:nvSpPr>
          <p:cNvPr id="10" name="Element 10"/>
          <p:cNvSpPr txBox="0"/>
          <p:nvPr/>
        </p:nvSpPr>
        <p:spPr>
          <a:xfrm>
            <a:off x="548640" y="5166360"/>
            <a:ext cx="11018520" cy="868680"/>
          </a:xfrm>
          <a:prstGeom prst="roundRect">
            <a:avLst/>
          </a:prstGeom>
          <a:solidFill>
            <a:srgbClr val="FFFBF5"/>
          </a:solidFill>
          <a:ln>
            <a:noFill/>
          </a:ln>
        </p:spPr>
      </p:sp>
      <p:sp>
        <p:nvSpPr>
          <p:cNvPr id="11" name="Element 11"/>
          <p:cNvSpPr txBox="1"/>
          <p:nvPr/>
        </p:nvSpPr>
        <p:spPr>
          <a:xfrm>
            <a:off x="795528" y="5404104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900" b="1">
                <a:solidFill>
                  <a:srgbClr val="2B1F2E"/>
                </a:solidFill>
                <a:latin typeface="Arial"/>
                <a:ea typeface="Arial"/>
                <a:cs typeface="Arial"/>
              </a:rPr>
              <a:t>React + TypeScript  /  Express + SQLite  /  56 серверных тестов пройдены</a:t>
            </a:r>
            <a:endParaRPr lang="ru-RU" sz="19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 2"/>
          <p:cNvSpPr txBox="1"/>
          <p:nvPr/>
        </p:nvSpPr>
        <p:spPr>
          <a:xfrm>
            <a:off x="502920" y="246888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06 · СЛЕДУЮЩИЙ ШАГ</a:t>
            </a:r>
            <a:endParaRPr lang="ru-RU" sz="1100"/>
          </a:p>
        </p:txBody>
      </p:sp>
      <p:sp>
        <p:nvSpPr>
          <p:cNvPr id="3" name="Element 3"/>
          <p:cNvSpPr txBox="1"/>
          <p:nvPr/>
        </p:nvSpPr>
        <p:spPr>
          <a:xfrm>
            <a:off x="10789920" y="246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1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07 / 07</a:t>
            </a:r>
            <a:endParaRPr lang="ru-RU" sz="1100"/>
          </a:p>
        </p:txBody>
      </p:sp>
      <p:sp>
        <p:nvSpPr>
          <p:cNvPr id="4" name="Element 4"/>
          <p:cNvSpPr txBox="1"/>
          <p:nvPr/>
        </p:nvSpPr>
        <p:spPr>
          <a:xfrm>
            <a:off x="502920" y="758952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32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Ищем партнёра для пилота</a:t>
            </a:r>
            <a:endParaRPr lang="ru-RU" sz="3200"/>
          </a:p>
        </p:txBody>
      </p:sp>
      <p:sp>
        <p:nvSpPr>
          <p:cNvPr id="5" name="Element 5"/>
          <p:cNvSpPr txBox="1"/>
          <p:nvPr/>
        </p:nvSpPr>
        <p:spPr>
          <a:xfrm>
            <a:off x="502920" y="6492240"/>
            <a:ext cx="10058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900" b="0">
                <a:solidFill>
                  <a:srgbClr val="6F6272"/>
                </a:solidFill>
                <a:latin typeface="Arial"/>
                <a:ea typeface="Arial"/>
                <a:cs typeface="Arial"/>
              </a:rPr>
              <a:t>КУБЫШКА   /   liderlar</a:t>
            </a:r>
            <a:endParaRPr lang="ru-RU" sz="900"/>
          </a:p>
        </p:txBody>
      </p:sp>
      <p:sp>
        <p:nvSpPr>
          <p:cNvPr id="6" name="Element 6"/>
          <p:cNvSpPr txBox="1"/>
          <p:nvPr/>
        </p:nvSpPr>
        <p:spPr>
          <a:xfrm>
            <a:off x="548640" y="2029968"/>
            <a:ext cx="292608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5600" b="1">
                <a:solidFill>
                  <a:srgbClr val="E2683A"/>
                </a:solidFill>
                <a:latin typeface="Arial"/>
                <a:ea typeface="Arial"/>
                <a:cs typeface="Arial"/>
              </a:rPr>
              <a:t>100</a:t>
            </a:r>
            <a:endParaRPr lang="ru-RU" sz="5600"/>
          </a:p>
        </p:txBody>
      </p:sp>
      <p:sp>
        <p:nvSpPr>
          <p:cNvPr id="7" name="Element 7"/>
          <p:cNvSpPr txBox="1"/>
          <p:nvPr/>
        </p:nvSpPr>
        <p:spPr>
          <a:xfrm>
            <a:off x="594360" y="2889504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4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пользователей</a:t>
            </a:r>
            <a:endParaRPr lang="ru-RU" sz="2400"/>
          </a:p>
        </p:txBody>
      </p:sp>
      <p:sp>
        <p:nvSpPr>
          <p:cNvPr id="8" name="Element 8"/>
          <p:cNvSpPr txBox="1"/>
          <p:nvPr/>
        </p:nvSpPr>
        <p:spPr>
          <a:xfrm>
            <a:off x="594360" y="34930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0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4 недели наблюдения</a:t>
            </a:r>
            <a:endParaRPr lang="ru-RU" sz="2000"/>
          </a:p>
        </p:txBody>
      </p:sp>
      <p:sp>
        <p:nvSpPr>
          <p:cNvPr id="9" name="Element 9"/>
          <p:cNvSpPr txBox="1"/>
          <p:nvPr/>
        </p:nvSpPr>
        <p:spPr>
          <a:xfrm>
            <a:off x="4297680" y="216712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6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Проверим три вещи</a:t>
            </a:r>
            <a:endParaRPr lang="ru-RU" sz="2600"/>
          </a:p>
        </p:txBody>
      </p:sp>
      <p:sp>
        <p:nvSpPr>
          <p:cNvPr id="10" name="Element 10"/>
          <p:cNvSpPr txBox="1"/>
          <p:nvPr/>
        </p:nvSpPr>
        <p:spPr>
          <a:xfrm>
            <a:off x="4297680" y="2871216"/>
            <a:ext cx="71323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Возвращаются ли на 7-й и 28-й день?</a:t>
            </a:r>
            <a:endParaRPr lang="ru-RU" sz="2200"/>
          </a:p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Растёт ли регулярность взносов в цель?</a:t>
            </a:r>
            <a:endParaRPr lang="ru-RU" sz="2200"/>
          </a:p>
          <a:p>
            <a:pPr>
              <a:lnSpc>
                <a:spcPct val="115000"/>
              </a:lnSpc>
            </a:pPr>
            <a:r>
              <a:rPr lang="ru-RU" sz="2200" b="0">
                <a:solidFill>
                  <a:srgbClr val="FFFBF5"/>
                </a:solidFill>
                <a:latin typeface="Arial"/>
                <a:ea typeface="Arial"/>
                <a:cs typeface="Arial"/>
              </a:rPr>
              <a:t>Готовы ли платить за расширенные функции?</a:t>
            </a:r>
            <a:endParaRPr lang="ru-RU" sz="2200"/>
          </a:p>
        </p:txBody>
      </p:sp>
      <p:sp>
        <p:nvSpPr>
          <p:cNvPr id="11" name="Element 11"/>
          <p:cNvSpPr txBox="1"/>
          <p:nvPr/>
        </p:nvSpPr>
        <p:spPr>
          <a:xfrm>
            <a:off x="594360" y="4892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2500" b="1">
                <a:solidFill>
                  <a:srgbClr val="FFFBF5"/>
                </a:solidFill>
                <a:latin typeface="Arial"/>
                <a:ea typeface="Arial"/>
                <a:cs typeface="Arial"/>
              </a:rPr>
              <a:t>Нужны доступ к аудитории и экспертиза в росте продукта.</a:t>
            </a:r>
            <a:endParaRPr lang="ru-RU" sz="2500"/>
          </a:p>
        </p:txBody>
      </p:sp>
      <p:sp>
        <p:nvSpPr>
          <p:cNvPr id="12" name="Element 12"/>
          <p:cNvSpPr txBox="1"/>
          <p:nvPr/>
        </p:nvSpPr>
        <p:spPr>
          <a:xfrm>
            <a:off x="594360" y="5669280"/>
            <a:ext cx="10789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liderlar  ·  Ёрмухаммедов Аброр  ·  Жураева Робия</a:t>
            </a:r>
            <a:endParaRPr lang="ru-RU" sz="1400"/>
          </a:p>
          <a:p>
            <a:pPr>
              <a:lnSpc>
                <a:spcPct val="115000"/>
              </a:lnSpc>
            </a:pPr>
            <a:r>
              <a:rPr lang="ru-RU" sz="1400" b="0">
                <a:solidFill>
                  <a:srgbClr val="DCCFC3"/>
                </a:solidFill>
                <a:latin typeface="Arial"/>
                <a:ea typeface="Arial"/>
                <a:cs typeface="Arial"/>
              </a:rPr>
              <a:t>План пилота; пользовательские и финансовые метрики ещё не подтверждены.</a:t>
            </a:r>
            <a:endParaRPr lang="ru-RU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byshka">
  <a:themeElements>
    <a:clrScheme name="Clay">
      <a:dk1>
        <a:srgbClr val="2B1F2E"/>
      </a:dk1>
      <a:lt1>
        <a:srgbClr val="FFFBF5"/>
      </a:lt1>
      <a:dk2>
        <a:srgbClr val="6F6272"/>
      </a:dk2>
      <a:lt2>
        <a:srgbClr val="F4EDE4"/>
      </a:lt2>
      <a:accent1>
        <a:srgbClr val="E2683A"/>
      </a:accent1>
      <a:accent2>
        <a:srgbClr val="5B4BD1"/>
      </a:accent2>
      <a:accent3>
        <a:srgbClr val="4F8A5B"/>
      </a:accent3>
      <a:accent4>
        <a:srgbClr val="D9B4BE"/>
      </a:accent4>
      <a:accent5>
        <a:srgbClr val="E7B23C"/>
      </a:accent5>
      <a:accent6>
        <a:srgbClr val="B94E25"/>
      </a:accent6>
      <a:hlink>
        <a:srgbClr val="5B4BD1"/>
      </a:hlink>
      <a:folHlink>
        <a:srgbClr val="E2683A"/>
      </a:folHlink>
    </a:clrScheme>
    <a:fontScheme name="Portab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